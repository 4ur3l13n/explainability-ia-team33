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457200"/>
            <a:ext cx="1828800" cy="1828800"/>
          </a:xfrm>
          <a:prstGeom prst="ellipse">
            <a:avLst/>
          </a:prstGeom>
          <a:solidFill>
            <a:srgbClr val="818CF8">
              <a:alpha val="40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114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1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TrustedAI Hackathon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AttritionIQ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18CF8"/>
                </a:solidFill>
              </a:rPr>
              <a:t>Turnover Prediction as a Service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5B4FC"/>
                </a:solidFill>
              </a:rPr>
              <a:t>Predict who will leave. Understand why. Act before it happens.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4114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Team 33  </a:t>
            </a:r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Luka G.  |  Hugo T.  |  Taha I.  |  Aurelien KJ.  |  Roman 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Capgemini x ESILV  -  March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Positioning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5B4FC"/>
                </a:solidFill>
              </a:rPr>
              <a:t>Who we are and why this market needs us now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290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Who We 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6366F1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SaaS provider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External AI vendor specialising in HR workforce analytics, delivered as a subscription platform.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6366F1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 clients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HR Directors, CHROs and HR Business Partners in mid-to-large companies (200-5,000 employees) in France and the EU.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6366F1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industries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3227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Logistics, healthcare, manufacturing, finance — sectors with structurally high voluntary turnover.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6366F1">
              <a:alpha val="7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Privacy-first. GDPR and EU AI Act compliance by design. No raw personal data ever leaves the client infrastructure.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206240" cy="34290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258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Now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2167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of workers globally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0" y="18562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considered quitting in 2023 (McKinsey Global Survey). Post-pandemic attrition has not normalised.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2560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3-6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54880" y="2852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months average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0" y="25420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for a disengaged employee to resign after the decision is made — an invisible window HR teams are missing.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246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538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predictive tools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52160" y="3227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 most HR stacks today. HRIS platforms record events; none predict them before they happen.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GDPR +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54880" y="4224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EU AI Act (2024)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0" y="3913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New regulations require explainability and fairness for AI used in employment decisions — creating a compliance need.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Turnover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What companies actually lose when an employee walks out the door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1600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Recruitment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3-5k EUR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Job boards, agency fees, sourcing time, interview rounds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0" y="1280160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280160"/>
            <a:ext cx="1600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46304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Onboarding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2-4k EUR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8803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Training, HR admin, equipment, buddy time, access setup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1280160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280160"/>
            <a:ext cx="1600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463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Lost Productivity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6-18 months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8803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New hire operates at 25% capacity for months. Team carries the load.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1280160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280160"/>
            <a:ext cx="16002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46304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Team Disruption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Multiplier x1.5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28803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Remaining employees absorb extra work, morale drops, attrition risk rises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0" y="1280160"/>
            <a:ext cx="1600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280160"/>
            <a:ext cx="16002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146304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0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Employer Brand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Long-term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0" y="28803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Glassdoor reviews, referral network damage, harder future hiring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B4FC"/>
                </a:solidFill>
              </a:rPr>
              <a:t>Total cost to replace one employee: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50% to 200% of annual salary</a:t>
            </a:r>
            <a:pPr algn="ctr" indent="0" marL="0">
              <a:buNone/>
            </a:pPr>
            <a:r>
              <a:rPr lang="en-US" sz="1150" dirty="0">
                <a:solidFill>
                  <a:srgbClr val="A5B4FC"/>
                </a:solidFill>
              </a:rPr>
              <a:t>   -   For a 500-person company losing 15% per year at avg 45k EUR salary: </a:t>
            </a:r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~3.4M EUR/year in turnover costs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AttritionIQ?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The business case for a predictive retention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069080" cy="3520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40690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Without AttritionIQ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92938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Resignation discovered on the day of notice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41401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 visibility on who is at risk or why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8986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437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Reactive HR conversations — too late to 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38328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2841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Turnover costs absorbed silently every quarter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386791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130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Manager intuition replaces data-driven retention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435254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GDPR and EU AI Act compliance unclear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261872"/>
            <a:ext cx="4069080" cy="35204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261872"/>
            <a:ext cx="406908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618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AttritionIQ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73752" y="192938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874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Risk identified weeks or months in advance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73752" y="241401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3591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Per-employee SHAP explanation: engagement, salary, tenure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73752" y="28986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8437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Prioritized HR action plan for each at-risk profile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73752" y="338328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32841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ROI visible: cost of churn vs. cost of retention action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73752" y="386791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8130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Structured, explainable, auditable decision process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73752" y="435254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2976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GDPR-compliant by design, EU AI Act ready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892040"/>
            <a:ext cx="84124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Setup: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46177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15-25k EUR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one-time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Annual licence: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11880" y="46177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from 8k EUR/yr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+ 1 EUR/emp/month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Break-even: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15000" y="46177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~3-5 retained employees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pays for itself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4944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5B4FC"/>
                </a:solidFill>
              </a:rPr>
              <a:t>Typical ROI: 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18120" y="46177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x5 to x15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800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year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</a:rPr>
              <a:t>50-200%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of annual salary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cost to replace one employee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43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3 months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average notice lag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from disengagement to resignation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06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43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4748B"/>
                </a:solidFill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63640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early warnings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 most HR systems today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64008" cy="2103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HR teams only learn about a resignation when it is already decided.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Most organisations have no systematic way to identify who is at risk, why, or what to do about it. Existing HR tools track </a:t>
            </a:r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what happened.</a:t>
            </a:r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AttritionIQ predicts </a:t>
            </a:r>
            <a:pPr algn="l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what will happen next</a:t>
            </a:r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- weeks or months in advance.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Our platform shifts HR from reactive to predictive, reducing turnover costs and giving HR business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partners a data-backed tool for conversations with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AttritionIQ is an external AI provider delivering turnover prevention as a SaaS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Anonymized Risk Scoring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statistical probability score per employee, computed from behavioural and organisational signals. No names - hashed IDs only.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Risk Ranking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Employees ranked by attrition probability. Three tiers: Low / Medium / High. HR gets an immediate priority list.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291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Cause Analysis (SHAP)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Per-employee SHAP explanation: which factors drive the risk - engagement gap, absences, compensation, tenure milestone.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3291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Recommended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Prioritised HR interventions mapped to each employee's specific risk drivers: 1:1 scheduling, comp review, project assignment.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Real-time KPIs, risk distribution, global SHAP feature importance and department benchmarking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37490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Risk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Ranked list of all employees by attrition probability - filterable by risk tier - anonymized IDs only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595360" cy="2286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8595360" cy="1417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SHAP Explanation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Why is this employee at risk? Each bar shows how much a feature increases or decreases their attrition probability vs. the average.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5120640" cy="2834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43000"/>
            <a:ext cx="3383280" cy="28346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274320" y="4069080"/>
            <a:ext cx="20116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100% - High Risk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423160" y="4069080"/>
            <a:ext cx="201168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242316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51% - Medium Risk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6344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Baseline (avg. employee): 30%  -  Individual delta computed per employee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by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Compliance and ethics built into every layer of the pipeline - not added as an afterthought.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40690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44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GDPR Compliance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Names, DOB, ZIP, state removed before training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Employee IDs one-way hashed (SHA-256)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No data leaves the local environment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Data minimization enforced in preprocessing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34440"/>
            <a:ext cx="40690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44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Anti-Discrimination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Sex, Gender, Race, Marital status excluded from model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EU AI Act compliance - no protected attributes as features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Bias audit across performance score subgroups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Fairness verified before deployment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4069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72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Human-in-the-Loop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Mandatory disclaimer on every prediction screen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Predictions are decision support, not verdicts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No automated employment decisions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HR manager validation required for all actions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06324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063240"/>
            <a:ext cx="40690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172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Cybersecurity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API key authentication on all endpoints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Pydantic strict input validation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Secrets in .env - never in Git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CORS restricted to local frontend only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Full-stack containerized system - React + FastAPI + Logistic Regression + SHAP - Docker Compose deployment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6459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HR Data (CSV)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311 employees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36 raw features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65960" y="1920240"/>
            <a:ext cx="182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28016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GDPR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PII removal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 hashing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Feature engineering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94760" y="1920240"/>
            <a:ext cx="182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128016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690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908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Calibrated proba.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C=0.1, balanced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SHAP LinearExplainer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23560" y="1920240"/>
            <a:ext cx="182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28016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FastAPI 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Auth, validation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Input sanitization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REST endpoints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1920240"/>
            <a:ext cx="182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28016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React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Risk table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SHAP waterfall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HR actions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88036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80360"/>
            <a:ext cx="54864" cy="2011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71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Model Choice - Logistic Regression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3375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Selected over XGBoost for 3 reasons: (1) 311-row dataset - tree models overfit and produce extreme 0/1 scores; (2) Naturally calibrated probabilities - a 60% score means genuine 60% risk; (3) SHAP LinearExplainer produces mathematically consistent explanations.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880360"/>
            <a:ext cx="54864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71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3375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Docker Compose orchestration. Backend auto-runs GDPR preprocessing and model training on first launch (~60s). Frontend proxies all API calls through Vite dev server to avoid CORS issues. Zero external dependencies - fully air-gapped.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Bias Audit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5-fold stratified cross-validation - Logistic Regression - calibrated probabilities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840480" cy="1371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4297680" cy="19202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457200" y="274320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274320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Known Limitations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320040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311 rows - limited generalization to large orgs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US dataset - EU labor context differs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Termd flag mixes voluntary + involuntary exits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Static snapshot - no temporal dimension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54680"/>
            <a:ext cx="4297680" cy="17373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AttritionIQ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5B4FC"/>
                </a:solidFill>
              </a:rPr>
              <a:t>Predict who will leave. Understand why. Act before it happens.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8892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6366F1">
              <a:alpha val="4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GDPR Compliant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278892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6366F1">
              <a:alpha val="4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Explainable AI (SHAP)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78892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6366F1">
              <a:alpha val="4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Human-in-the-Loop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Team 33  -  Capgemini x ESILV  -  TrustedAI Hackathon  -  March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AttritionIQ - TrustedAI Hackathon</dc:title>
  <dc:subject>PptxGenJS Presentation</dc:subject>
  <dc:creator>PptxGenJS</dc:creator>
  <cp:lastModifiedBy>PptxGenJS</cp:lastModifiedBy>
  <cp:revision>1</cp:revision>
  <dcterms:created xsi:type="dcterms:W3CDTF">2026-03-17T09:15:25Z</dcterms:created>
  <dcterms:modified xsi:type="dcterms:W3CDTF">2026-03-17T09:15:25Z</dcterms:modified>
</cp:coreProperties>
</file>